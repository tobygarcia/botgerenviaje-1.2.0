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bbb200043b4980" /><Relationship Type="http://schemas.openxmlformats.org/officeDocument/2006/relationships/extended-properties" Target="/docProps/app.xml" Id="R4f5e6a67482e482f" /><Relationship Type="http://schemas.openxmlformats.org/officeDocument/2006/relationships/officeDocument" Target="/ppt/presentation.xml" Id="R4e48d8f5002e48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0bd43ba83a4cb6"/>
  </p:sldMasterIdLst>
  <p:notesMasterIdLst>
    <p:notesMasterId xmlns:r="http://schemas.openxmlformats.org/officeDocument/2006/relationships" r:id="R233e34bfb49d4c2c"/>
  </p:notesMasterIdLst>
  <p:sldIdLst>
    <p:sldId xmlns:r="http://schemas.openxmlformats.org/officeDocument/2006/relationships" id="256" r:id="Rbe6f7e2147f442e9"/>
    <p:sldId xmlns:r="http://schemas.openxmlformats.org/officeDocument/2006/relationships" id="257" r:id="R61288e9709b14970"/>
    <p:sldId xmlns:r="http://schemas.openxmlformats.org/officeDocument/2006/relationships" id="258" r:id="Rc5ce68b813594e15"/>
    <p:sldId xmlns:r="http://schemas.openxmlformats.org/officeDocument/2006/relationships" id="259" r:id="Rf9f5f97a2e9e48b5"/>
    <p:sldId xmlns:r="http://schemas.openxmlformats.org/officeDocument/2006/relationships" id="260" r:id="R38f90fc170484de7"/>
    <p:sldId xmlns:r="http://schemas.openxmlformats.org/officeDocument/2006/relationships" id="261" r:id="R6402a5b7f05346fb"/>
    <p:sldId xmlns:r="http://schemas.openxmlformats.org/officeDocument/2006/relationships" id="262" r:id="R0b010212942945fb"/>
    <p:sldId xmlns:r="http://schemas.openxmlformats.org/officeDocument/2006/relationships" id="263" r:id="R071c71569cb34939"/>
    <p:sldId xmlns:r="http://schemas.openxmlformats.org/officeDocument/2006/relationships" id="264" r:id="Rbabb18e1db964beb"/>
    <p:sldId xmlns:r="http://schemas.openxmlformats.org/officeDocument/2006/relationships" id="265" r:id="R55cf96f14ea94b59"/>
    <p:sldId xmlns:r="http://schemas.openxmlformats.org/officeDocument/2006/relationships" id="266" r:id="Recfc6d6e906b4efd"/>
    <p:sldId xmlns:r="http://schemas.openxmlformats.org/officeDocument/2006/relationships" id="267" r:id="Rcfb0df19993b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f21b896cf4032" /><Relationship Type="http://schemas.openxmlformats.org/officeDocument/2006/relationships/slideMaster" Target="/ppt/slideMasters/slideMaster1.xml" Id="R8c0bd43ba83a4cb6" /><Relationship Type="http://schemas.openxmlformats.org/officeDocument/2006/relationships/notesMaster" Target="/ppt/notesMasters/notesMaster1.xml" Id="R233e34bfb49d4c2c" /><Relationship Type="http://schemas.openxmlformats.org/officeDocument/2006/relationships/presProps" Target="/ppt/presProps.xml" Id="R82b758429cfa451a" /><Relationship Type="http://schemas.openxmlformats.org/officeDocument/2006/relationships/tableStyles" Target="/ppt/tableStyles.xml" Id="R3f92a396b1264098" /><Relationship Type="http://schemas.openxmlformats.org/officeDocument/2006/relationships/slide" Target="/ppt/slides/slide1.xml" Id="Rbe6f7e2147f442e9" /><Relationship Type="http://schemas.openxmlformats.org/officeDocument/2006/relationships/slide" Target="/ppt/slides/slide2.xml" Id="R61288e9709b14970" /><Relationship Type="http://schemas.openxmlformats.org/officeDocument/2006/relationships/slide" Target="/ppt/slides/slide3.xml" Id="Rc5ce68b813594e15" /><Relationship Type="http://schemas.openxmlformats.org/officeDocument/2006/relationships/slide" Target="/ppt/slides/slide4.xml" Id="Rf9f5f97a2e9e48b5" /><Relationship Type="http://schemas.openxmlformats.org/officeDocument/2006/relationships/slide" Target="/ppt/slides/slide5.xml" Id="R38f90fc170484de7" /><Relationship Type="http://schemas.openxmlformats.org/officeDocument/2006/relationships/slide" Target="/ppt/slides/slide6.xml" Id="R6402a5b7f05346fb" /><Relationship Type="http://schemas.openxmlformats.org/officeDocument/2006/relationships/slide" Target="/ppt/slides/slide7.xml" Id="R0b010212942945fb" /><Relationship Type="http://schemas.openxmlformats.org/officeDocument/2006/relationships/slide" Target="/ppt/slides/slide8.xml" Id="R071c71569cb34939" /><Relationship Type="http://schemas.openxmlformats.org/officeDocument/2006/relationships/slide" Target="/ppt/slides/slide9.xml" Id="Rbabb18e1db964beb" /><Relationship Type="http://schemas.openxmlformats.org/officeDocument/2006/relationships/slide" Target="/ppt/slides/slide10.xml" Id="R55cf96f14ea94b59" /><Relationship Type="http://schemas.openxmlformats.org/officeDocument/2006/relationships/slide" Target="/ppt/slides/slide11.xml" Id="Recfc6d6e906b4efd" /><Relationship Type="http://schemas.openxmlformats.org/officeDocument/2006/relationships/slide" Target="/ppt/slides/slide12.xml" Id="Rcfb0df19993b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ed5ecfe7ae45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4750e526241d9" /><Relationship Type="http://schemas.openxmlformats.org/officeDocument/2006/relationships/notesMaster" Target="/ppt/notesMasters/notesMaster1.xml" Id="Rbe88cd8370e648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78fce3e7914980" /><Relationship Type="http://schemas.openxmlformats.org/officeDocument/2006/relationships/notesMaster" Target="/ppt/notesMasters/notesMaster1.xml" Id="R8788890f107c49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2f1810eae943a7" /><Relationship Type="http://schemas.openxmlformats.org/officeDocument/2006/relationships/notesMaster" Target="/ppt/notesMasters/notesMaster1.xml" Id="Raf9a5bfb9e2246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b6ff4498754dbd" /><Relationship Type="http://schemas.openxmlformats.org/officeDocument/2006/relationships/notesMaster" Target="/ppt/notesMasters/notesMaster1.xml" Id="Rb859a733b88340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826c62dc9349b4" /><Relationship Type="http://schemas.openxmlformats.org/officeDocument/2006/relationships/notesMaster" Target="/ppt/notesMasters/notesMaster1.xml" Id="R08c306af868a46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eeae8e2bcb4820" /><Relationship Type="http://schemas.openxmlformats.org/officeDocument/2006/relationships/notesMaster" Target="/ppt/notesMasters/notesMaster1.xml" Id="Rcfeb7f881e5f44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9838af8eac4e2f" /><Relationship Type="http://schemas.openxmlformats.org/officeDocument/2006/relationships/notesMaster" Target="/ppt/notesMasters/notesMaster1.xml" Id="Rd78d0dd96d2b40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afabf2a7584a60" /><Relationship Type="http://schemas.openxmlformats.org/officeDocument/2006/relationships/notesMaster" Target="/ppt/notesMasters/notesMaster1.xml" Id="Re167ed5842374f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b98ea9ab2b4535" /><Relationship Type="http://schemas.openxmlformats.org/officeDocument/2006/relationships/notesMaster" Target="/ppt/notesMasters/notesMaster1.xml" Id="R96aabda23044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0e44a8246f45e6" /><Relationship Type="http://schemas.openxmlformats.org/officeDocument/2006/relationships/notesMaster" Target="/ppt/notesMasters/notesMaster1.xml" Id="R2bdde994086447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5238ed764243d7" /><Relationship Type="http://schemas.openxmlformats.org/officeDocument/2006/relationships/notesMaster" Target="/ppt/notesMasters/notesMaster1.xml" Id="R6d37d3717e4b44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ffb194027347db" /><Relationship Type="http://schemas.openxmlformats.org/officeDocument/2006/relationships/notesMaster" Target="/ppt/notesMasters/notesMaster1.xml" Id="R8a90683a8c3f4b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Portada elaborada con el logotipo incluido en frontend/src/assets/AQUARIO_BLANCO.png.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Recurso visual: frontend/src/assets/conductor.png.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Los valores de odómetro mostrados son un ejemplo ilustrativo y no representan un viaje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Recurso visual: panel-admin/src/assets/LoginAssets/imagen_muestra.png. La operación final de SharePoint depende de la configuración de Microsoft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 principal: docs/presentacion/PRESENTACION_FLUJOS_TRABAJO_Y_DIAPOSITIVAS.md. Contraste de implementación: RESUMEN_PROYECTO.md y estructura actual del repositorio.</a:t>
            </a:r>
          </a:p>
          <a:p xmlns:a="http://schemas.openxmlformats.org/drawingml/2006/main">
            <a:r>
              <a:t>Cierre basado en las recomendaciones prácticas del documento fuente. La nota técnica conserva la cautela indicada en RESUMEN_PROYECTO.md.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59df6104064d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18b62e72264a4f" /><Relationship Type="http://schemas.openxmlformats.org/officeDocument/2006/relationships/slideLayout" Target="/ppt/slideLayouts/slideLayout1.xml" Id="Re9947224d52c45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47224d52c45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db86c0d994ae1" /><Relationship Type="http://schemas.openxmlformats.org/officeDocument/2006/relationships/image" Target="/ppt/media/image.png" Id="R02ac3dd3f52943e8" /><Relationship Type="http://schemas.openxmlformats.org/officeDocument/2006/relationships/notesSlide" Target="/ppt/notesSlides/notesSlide1.xml" Id="R315c6f50b229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2ba9dc472474f" /><Relationship Type="http://schemas.openxmlformats.org/officeDocument/2006/relationships/notesSlide" Target="/ppt/notesSlides/notesSlide2.xml" Id="Rb94fe16c010543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59f4bf8a8b44d8" /><Relationship Type="http://schemas.openxmlformats.org/officeDocument/2006/relationships/notesSlide" Target="/ppt/notesSlides/notesSlide3.xml" Id="R21cc090edc3245a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9576503114740" /><Relationship Type="http://schemas.openxmlformats.org/officeDocument/2006/relationships/notesSlide" Target="/ppt/notesSlides/notesSlide4.xml" Id="R2fe4a4f7d01749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7f3d79c524416" /><Relationship Type="http://schemas.openxmlformats.org/officeDocument/2006/relationships/image" Target="/ppt/media/image2.png" Id="R434976ca32744c25" /><Relationship Type="http://schemas.openxmlformats.org/officeDocument/2006/relationships/notesSlide" Target="/ppt/notesSlides/notesSlide5.xml" Id="R74aeca7d009b42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28482959e4f82" /><Relationship Type="http://schemas.openxmlformats.org/officeDocument/2006/relationships/notesSlide" Target="/ppt/notesSlides/notesSlide6.xml" Id="R6b2a50c748644e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54e7533d24154" /><Relationship Type="http://schemas.openxmlformats.org/officeDocument/2006/relationships/notesSlide" Target="/ppt/notesSlides/notesSlide7.xml" Id="R5c5b37880c3443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1d758d1ca474f" /><Relationship Type="http://schemas.openxmlformats.org/officeDocument/2006/relationships/notesSlide" Target="/ppt/notesSlides/notesSlide8.xml" Id="R3d86cd8f16d44a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abcb53b984a79" /><Relationship Type="http://schemas.openxmlformats.org/officeDocument/2006/relationships/notesSlide" Target="/ppt/notesSlides/notesSlide9.xml" Id="R9105ea6786b44f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0a6337155f40d1" /><Relationship Type="http://schemas.openxmlformats.org/officeDocument/2006/relationships/notesSlide" Target="/ppt/notesSlides/notesSlide10.xml" Id="R49b5d629442443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180be0e654330" /><Relationship Type="http://schemas.openxmlformats.org/officeDocument/2006/relationships/image" Target="/ppt/media/image3.png" Id="Re57079ae46374576" /><Relationship Type="http://schemas.openxmlformats.org/officeDocument/2006/relationships/notesSlide" Target="/ppt/notesSlides/notesSlide11.xml" Id="Rf5d1f3c6c3fb4b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12183f40844b7" /><Relationship Type="http://schemas.openxmlformats.org/officeDocument/2006/relationships/notesSlide" Target="/ppt/notesSlides/notesSlide12.xml" Id="R4779f406d10142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C5F93-CED9-4C39-9348-DD037F36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ACAABC-1DEE-4530-A12A-8D11D9E2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566D4-F8F7-4189-AEDD-315A1AA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-476250"/>
            <a:ext cx="4000500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A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38E7E-CC01-4CBC-BFB9-765687B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69444-2B84-4B97-8254-D0AC28CE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5E47B-13D3-4F42-8413-2961D47E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619250" cy="476250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c3dd3f52943e8"/>
          <a:stretch xmlns:a="http://schemas.openxmlformats.org/drawingml/2006/main"/>
        </p:blipFill>
        <p:spPr>
          <a:xfrm xmlns:a="http://schemas.openxmlformats.org/drawingml/2006/main">
            <a:off x="881180" y="457200"/>
            <a:ext cx="1057040" cy="104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3FF70-0A69-4D1B-AD95-29A8780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Plataforma de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Gerenciamiento de Viajes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1C7C2-0023-44C9-B630-62D051E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C8DCE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8DCE7"/>
                </a:solidFill>
                <a:latin typeface="Arial"/>
                <a:ea typeface="Arial"/>
                <a:cs typeface="Arial"/>
              </a:rPr>
              <a:t>Seguridad operativa, trazabilidad y control documental de la flota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BA0A7-5D79-47C5-B4B5-B5C8FAD8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6DBE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6DBE8"/>
                </a:solidFill>
                <a:latin typeface="Arial"/>
                <a:ea typeface="Arial"/>
                <a:cs typeface="Arial"/>
              </a:rPr>
              <a:t>Presentación para usuarios finales y mandos medios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101BE-256B-4DD9-8DBE-E3B9D9B0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9FB5C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FB5C3"/>
                </a:solidFill>
                <a:latin typeface="Arial"/>
                <a:ea typeface="Arial"/>
                <a:cs typeface="Arial"/>
              </a:rPr>
              <a:t>Septiembre 2026  |  Versión 1.2.0</a:t>
            </a:r>
          </a:p>
        </p:txBody>
      </p:sp>
    </p:spTree>
    <p:extLst>
      <p:ext uri="{BB962C8B-B14F-4D97-AF65-F5344CB8AC3E}">
        <p14:creationId xmlns:p14="http://schemas.microsoft.com/office/powerpoint/2010/main" val="5668430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D2E37C-6D06-4559-96C9-F5CA0291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Una operación segura deja un registro completo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22B43-25E4-4B92-BB46-306172FF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C7D63-6664-40F3-9D44-26D41EFE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5E09A-A06F-4D80-B935-67CCA21A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plataforma concentra en un solo flujo lo que antes se distribuía entre bitácoras, mensajes, fotografías y archivos.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745E7F-F4C2-43B9-A95C-25312255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908EC-4D44-4FE6-8FA8-11BAA68E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19068-5CB9-4839-8377-52C094CF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6537A-1FB2-4FBC-A3BD-91F2BEB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Inspección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00BE3-E1FA-4534-AC44-C411BFF7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Revisión preoperacional y evidencia de daños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8E02E1-18F4-4B07-B2E0-0DE831A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BD89E-E56A-4E1E-9B5A-85F86270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6C3C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C3C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C9DB7-9278-4B7F-AFDA-2A42BD21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E569F-2F54-4961-8E91-67276833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Trazabilidad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29732-DF7F-4DA2-BDF1-D656F16A6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Ubicación GPS en línea y sincronización posterior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37D52-B483-4783-8B77-7FA7C53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0CFA3-AE78-42BB-90E1-C730398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7EA036-F9A9-4C2A-B0F1-B5970F5E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AE202-271A-457B-B747-4B19934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E229E-540B-43C0-99E6-B21DBD00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Lecturas de odómetro y estados del viaje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07B6B-2B93-4BE9-B398-9CD3D5F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362200" cy="276225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E74FC-91C8-4D34-B076-C528E4DB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D7C12-9F09-47CC-BB8E-3B85D987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6096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2CD924-2BE4-4B70-B84B-3853F84A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Expediente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69DCD-1C4A-4265-BF56-C02EDEB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24300"/>
            <a:ext cx="1962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Firmas, PDFs y respaldo para auditoría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072F0-0AEB-4851-B045-F91154C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994745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5FC33-B4A3-4711-ACF3-6D524372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Roles y canales de acceso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3CBD6-2452-4B34-B704-0648C009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30160-33FE-487D-A021-C01828BA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237B4-ABBA-44FE-857C-8A749B2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20903-E3C7-4D76-BD7A-B9905542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EDAB8-FA7D-4D6F-9310-27E4C19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002A8-9506-449F-BA64-50F4E7F5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DE9BD-8864-405D-AF98-C6671FF6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Conductor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6C943-F276-4B08-AE61-D3174341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Telegram Mini App y PWA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EAA49-C758-46B4-9D13-64C92AF3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Completa la inspección, registra odómetros, opera el viaje y reporta ubicación.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355A4B-61E1-48C1-9BFC-3C7797E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37CE1F-4855-4FCB-A36E-FD18BABC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66B7C-CA84-446A-93A1-CF5FE3CE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D873A-FFA8-4537-ABA8-BE2AF68A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B1D72-CB9B-4B99-B7AB-4BCA3449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Supervisor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E18B1-EBB2-46CF-A60F-8C506465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Telegram y portal web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73E1A-608E-47FF-8DF2-D7783825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Revisa evidencias, autoriza la salida y documenta evaluaciones de manejo.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674720-E35E-4A0E-B9E1-A811AC19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276600" cy="4095750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1F6E19-91FF-41EC-B958-68DBA8D7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24000"/>
            <a:ext cx="32766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DFA27-3AC8-456E-B5DA-31FA271C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431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14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4C5E4-622F-4231-BF21-C8EB5315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14708C-9F6E-4BAB-AAE6-9CD4E0E3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19375"/>
            <a:ext cx="281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Torre de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8AB5B-33D1-4F0B-9EA0-64B48944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24200"/>
            <a:ext cx="281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D31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D314D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40905C-7B35-422C-A53C-FFDFDB46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81425"/>
            <a:ext cx="2819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Monitorea viajes, audita kilometraje y consulta expedientes operativos.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FA12C-4B98-4EFA-85A9-3D560090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502734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08F0CF-01AA-4B4C-9374-97F5F114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1: acceso e identidad operativa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90DAA-3E53-4DF2-8181-5D07ABE5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B516D-D3F4-4AFC-A9F7-E8268D7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60FBC-04FC-44E2-AC06-B0D4D881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conductor entra desde Telegram o desde la PWA y confirma su identidad antes de operar una unidad.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FE326-7B32-404A-8A41-D8DC34D9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381250" cy="1524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9525">
            <a:solidFill>
              <a:srgbClr val="9EDC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8A21A-C27D-4A0A-94DD-3481F99C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1819F-BC97-4888-BE1E-34815B7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4792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2CE65-2408-4B39-9242-042FA9A8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193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Telegram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49540-3FFD-48C0-8985-E535A4A4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Comando /start y apertura de la Mini App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7CC39-B66A-4F66-AB03-BE346153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2381250" cy="140970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1EBFC"/>
          </a:solidFill>
          <a:ln xmlns:a="http://schemas.openxmlformats.org/drawingml/2006/main" w="9525">
            <a:solidFill>
              <a:srgbClr val="D5C6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603D96-303F-4517-8B56-C09DFD9E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169C6-FA46-4C25-910B-ECCA6C0A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719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F5F2B-944B-4369-BA05-B86E51C4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43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PWA móvil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8A054-A465-4C1F-AE86-4B59AE92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1943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Acceso directo en Chrome, con sesión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CAB0C-CFAC-4CBA-A9A2-BF410F42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4765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58510D-5EE1-4A01-8C86-7D6B0325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81DD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1DDEA"/>
                </a:solidFill>
                <a:latin typeface="Arial"/>
                <a:ea typeface="Arial"/>
                <a:cs typeface="Arial"/>
              </a:rPr>
              <a:t>PIN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FDDCD1-68EF-4500-BE72-4D2C00FB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528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••••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645B1-DDFE-4159-96A8-E725CB74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333500" cy="41910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518792-F4D1-4ACD-8F04-E6EEB0C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95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620D1-FEFE-41B0-B0E6-8B02AFCF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667000" cy="19050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7D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053833-509B-42C7-B1A4-C008964C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6C73F-D86B-4AAE-8FC1-785E58A0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003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65C8D-9E21-494D-B6C4-CD494A45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003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Perfil habilitado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E1B202-11BF-4575-A4DE-D7BF11B0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76650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Conductor activo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Licencia vigente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Vehículo asignado</a:t>
            </a:r>
          </a:p>
        </p:txBody>
      </p:sp>
      <p:cxnSp>
        <p:nvCxnSpPr>
          <p:cNvPr id="53" name=""/>
          <p:cNvCxnSpPr>
            <a:stCxn xmlns:a="http://schemas.openxmlformats.org/drawingml/2006/main" id="5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257550" y="3009900"/>
            <a:ext cx="1409700" cy="7334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257550" y="3743325"/>
            <a:ext cx="1409700" cy="1133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7143750" y="3733800"/>
            <a:ext cx="142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A06B"/>
            </a:solidFill>
            <a:prstDash val="solid"/>
            <a:head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70D880-8A7F-4431-8B7B-715B3DCE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2690194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A02B5E-FE0D-4DE8-B0C5-F2E251E9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2: inspección preoperacional 360°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432C1-D320-4726-9FB6-0191073B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E9E5B-E9B1-4D5E-8DD5-923A20C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57E2A-58AA-404A-8B03-B74AE3BD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inspección documenta el estado de la unidad antes de encender el motor.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84C28-BD8E-42B7-A9F2-88A89F5B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7239000" cy="3905250"/>
          </a:xfrm>
          <a:prstGeom xmlns:a="http://schemas.openxmlformats.org/drawingml/2006/main" prst="roundRect">
            <a:avLst>
              <a:gd name="adj" fmla="val 63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9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976ca32744c25"/>
          <a:stretch xmlns:a="http://schemas.openxmlformats.org/drawingml/2006/main"/>
        </p:blipFill>
        <p:spPr>
          <a:xfrm xmlns:a="http://schemas.openxmlformats.org/drawingml/2006/main">
            <a:off x="1000607" y="2476500"/>
            <a:ext cx="5333035" cy="18478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05620D-0C4B-439E-8EE2-E72192A5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8575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E7C71-5EC6-4CF9-939C-93D4A222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385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E963B-A11E-4036-B1FF-8119326F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006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Marcas de daño y evidencia fotográfica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A5E9E-63E0-4140-826D-8E1776D2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BA38E-62E5-49A5-B7BF-10C6A0F8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97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FE8AC6-4B73-40F2-B8AB-C54AD1B3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97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Frenos y luces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68DC1-C583-45B5-8095-B64B88A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2A286-459E-4CB5-B1C4-E9482766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FEC2B-7E35-4D4C-BFE7-D4FDB82D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860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Llantas y niveles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02DEF2-D957-4E77-B69A-3A05B037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52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CC353-0A04-4D8B-B1C6-B7585B17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623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593E3-9703-4E83-BF80-B4CC1D22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623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Equipo de emergencia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833AA-6D17-4C29-ADB3-E31E328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3718E-6E7C-4076-AA33-68396EA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38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57524-9DBF-4BF3-85B6-528A100E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63867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Firma del conductor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D7C99-704E-4230-BD0D-CE2818F5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6578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Regla operativa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DFBB0-9667-4F89-8044-E186825E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6007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inspección es diaria por operador y se reinicia a las 10:00 PM.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0E4B15-6C9B-4B3B-961B-FBD7A99F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451887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0FCAF-3DBD-4423-A1EB-295A11E6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3: validación y salida autorizada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F464F-D7C2-4EB5-8BE1-409AF1A4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5BD98-C290-4EFD-AA4F-69A16D6C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3438D4-5700-413B-BB54-DA57DC4C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revisa la evidencia y deja una decisión trazable antes de liberar la unidad.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FF382-3C7D-44BC-830D-478F4660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8F7FA"/>
          </a:solidFill>
          <a:ln xmlns:a="http://schemas.openxmlformats.org/drawingml/2006/main" w="9525">
            <a:solidFill>
              <a:srgbClr val="AADF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F8AF2-BDB5-4DBF-B0B5-AD1BE294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25C47-EE3B-400C-AB83-F2AFBE61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EE39C-72CA-4E2C-8360-8187CF03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Alerta automática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7EB41-2518-49B9-A08D-FC167B3B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226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Telegram avisa al grupo de supervisores cuando el conductor envía el checklist.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540D5-23DD-4DFE-8DE6-DE1B536D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4C0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A22229-BCA0-476E-BE85-04E37530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FEC1F-0C13-4616-8B96-15F6D3D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A4FA5-EF36-4AD5-8A46-451CFFAD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Revisión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EF8BB-F198-4E4E-8934-198DA9DA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95625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consulta checklist, fotografías y daños registrados. Aprueba o rechaza con firma digital.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1747BA-210A-4F53-9EF2-173F5ABB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762250" cy="285750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EF2811-933C-48C7-8290-D9C8B907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96984-3A20-4111-B044-4D631579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526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61B4CE-D5A7-4AB4-9DEE-714CB1F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Acta oficial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6EE8A1-51F1-4ADA-9D76-8E890E9B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aprobación genera el PDF firmado y habilita la salida. El rechazo devuelve la unidad a corrección.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4330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05700" y="35242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7DF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0E8F9-B9DA-4C42-A012-520C542E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381625"/>
            <a:ext cx="4095750" cy="514350"/>
          </a:xfrm>
          <a:prstGeom xmlns:a="http://schemas.openxmlformats.org/drawingml/2006/main" prst="roundRect">
            <a:avLst>
              <a:gd name="adj" fmla="val 40741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16F89-16B6-47DF-950E-31961323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391150"/>
            <a:ext cx="3848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firma de ambas partes respalda la salida segura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18355-42D2-419D-A3F2-FDEE9AA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701836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41227-9EFC-45D1-BB3B-452FF381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Paso 4: preparación y plan de ruta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2CEE4-7947-4B09-BB7C-724C5FC3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79D8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D8E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D5CF2-3453-41A3-81D1-A41D92AE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0DB41-EC51-46E5-9AB2-8CACDC56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Antes de iniciar, el conductor documenta el traslado y los controles de seguridad de la ruta.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76ACB-E60F-4B47-98CE-2D7E3D4B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541A-FB79-494A-8505-FADB4493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145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8267F-9495-4901-814A-F82F81FC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Destino y motivo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C7C92-76DA-4C19-BD7A-0A3D63E0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Origen, destino oficial, propósito y acompañantes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EBB94-F4F8-4645-BDD4-781EAEC2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26A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6A3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380AC-56C4-4CF7-B3B1-5257C061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8610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AB2F9-F59B-4688-9A9F-DBAAEA32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Odómetro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93D1C-E9EA-47BF-81A5-B6A62D03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Lectura numérica y fotografía del tablero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F132B-E8EA-49C2-B86B-0C810155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6C3C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6C3C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0483D-350B-404D-B35E-F5CDD2CA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5765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3CC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71323-F555-4D57-9B4E-68BBA88A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9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Riesgos de ruta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23FD3-2092-48B6-9CCE-D7E80776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19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Clima, condiciones del camino y protocolos de auxilio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EF33C3-D523-49E2-A789-CA695255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47D54-C039-4C11-A3A0-B0FDC70B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29200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1CE688-D594-4221-9F10-D5BD17A5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911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 de descanso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B1A960-7753-4FED-97CA-EFF164B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911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Paradas programadas cada 2 a 3 horas de manejo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14F9D-9A7D-4C35-96AE-1D1267BA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5D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5D3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305269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25947-3AC0-4372-9843-BA74DB68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5: rastreo GPS en línea y sin 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D6D6-50EF-442F-8666-472F75A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D11A48-2419-4C1E-92B0-48AE77FA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B3F8A-4E20-484E-926D-D1BF7311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aplicación mantiene la continuidad del registro durante todo el viaje.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AC841-B47B-4934-B549-8FCF5A21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095500" cy="1238250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BC290-424E-4E2D-BA22-CF1C069F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INICIAR VIAJE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A2093-199E-4192-AC8B-12AF93FB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BCD1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1DD"/>
                </a:solidFill>
                <a:latin typeface="Arial"/>
                <a:ea typeface="Arial"/>
                <a:cs typeface="Arial"/>
              </a:rPr>
              <a:t>Activa el seguimiento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BFA1A-7114-405F-AB41-67AB00A7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7622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DDF6FA"/>
          </a:solidFill>
          <a:ln xmlns:a="http://schemas.openxmlformats.org/drawingml/2006/main" w="9525">
            <a:solidFill>
              <a:srgbClr val="9DDD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B41B3-AB7A-4A52-9E78-6FBC2D1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68153-5AFB-4FD8-BA1F-0D212518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FC24D1-5344-4A03-B630-0AB2555E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Con señal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A68F93-03C7-49F9-894E-38DE417B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146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Las coordenadas llegan al servidor y actualizan la ruta.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CD1616-1346-44E2-B774-8F6A0B9C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276225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4C0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0629B-AF29-44BB-8F9A-A5536704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291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4F786-E7F5-48B9-8AA1-D8FF666B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F1BA0-CC5A-4370-BFA6-37D40F30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00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Sin señal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DB8C8-3DAC-4D97-B52E-51EFFA77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0540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teléfono guarda puntos y eventos para sincronizarlos después.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A2212-33E8-4FD1-AD0A-043C9C2A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09900"/>
            <a:ext cx="2286000" cy="161925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E8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1C1866-A529-4203-B060-5E557869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48025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C5436-A623-4DFA-BB28-833BA27A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57550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28A4FD-66CA-4A4A-BA25-4E83E8E8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19450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Ruta consolidada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EC4538-FDD6-4E6A-BD30-D271FB91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Sin pérdida ni duplicación de puntos GPS</a:t>
            </a:r>
          </a:p>
        </p:txBody>
      </p:sp>
      <p:cxnSp>
        <p:nvCxnSpPr>
          <p:cNvPr id="5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857500" y="2809875"/>
            <a:ext cx="1666875" cy="571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0A7C7"/>
            </a:solidFill>
            <a:prstDash val="solid"/>
            <a:head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857500" y="3381375"/>
            <a:ext cx="1666875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F26A35"/>
            </a:solidFill>
            <a:prstDash val="solid"/>
            <a:head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86625" y="2809875"/>
            <a:ext cx="1905000" cy="1009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A06B"/>
            </a:solidFill>
            <a:prstDash val="solid"/>
            <a:head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286625" y="3819525"/>
            <a:ext cx="1905000" cy="1181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22A06B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27BC1A-9413-4516-8D19-B9E021F4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157056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0B5C9-7D42-47DA-8344-7736E28A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Paso 6: cierre y conciliación de kilometraje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C69CD-2B9E-433C-9D28-876F350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17D84-5A62-4D07-8129-107C5131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36462-9668-4AC0-9964-A559DFD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lectura final completa el expediente del viaje y libera la unidad para el siguiente servicio.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99704-78ED-4677-AC67-68AF5CC0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4095750" cy="2762250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1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8D417-072B-4E60-BCF7-60ABFA9E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Odómetro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73508-E15D-4A43-9CC3-B4EC3E78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2417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128,450 km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493E6-1EBB-4E1B-9898-E29DB69D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229A9-82B7-4F51-99F0-2DA44D09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433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2697A"/>
                </a:solidFill>
                <a:latin typeface="Arial"/>
                <a:ea typeface="Arial"/>
                <a:cs typeface="Arial"/>
              </a:rPr>
              <a:t>Odómetro final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5D845-C06B-483E-AAD3-9B5AFF01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43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128,612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06FEF-C5B2-428A-9B7F-A3882050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194A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194A0"/>
                </a:solidFill>
                <a:latin typeface="Arial"/>
                <a:ea typeface="Arial"/>
                <a:cs typeface="Arial"/>
              </a:rPr>
              <a:t>EJEMPLO ILUSTRATIVO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E7541-B6DD-4E45-9487-FBEED937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5524500" cy="2381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14E4C8-9637-4568-AFB4-B59AA682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7FD8E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FD8E6"/>
                </a:solidFill>
                <a:latin typeface="Arial"/>
                <a:ea typeface="Arial"/>
                <a:cs typeface="Arial"/>
              </a:rPr>
              <a:t>DISTANCIA CALCULADA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1711A-F5A1-43DD-92CE-0E31ECEA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162 km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F5EB80-4D22-4C2C-A8B4-5DB7C13D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57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BFD2D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FD2DE"/>
                </a:solidFill>
                <a:latin typeface="Arial"/>
                <a:ea typeface="Arial"/>
                <a:cs typeface="Arial"/>
              </a:rPr>
              <a:t>La plataforma valida saltos de kilometraje y registra la hora de llegada.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160B1-3C7C-4DDD-BC6F-6813B1C1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324100" cy="476250"/>
          </a:xfrm>
          <a:prstGeom xmlns:a="http://schemas.openxmlformats.org/drawingml/2006/main" prst="roundRect">
            <a:avLst>
              <a:gd name="adj" fmla="val 44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17280-36B8-4068-B42D-9E13CC26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UNIDAD DISPONIBLE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EA127-5BC2-442B-B2BE-4FC2059F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423494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ACA527-529F-4D41-A116-2D371293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Prevención y atención inmediata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A7BD9-65AC-4B3A-8811-481446C5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20800-4217-46C0-A16C-43EC233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A5FF7-4D20-4EA0-AFCA-9D3703C8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Dos módulos complementan el viaje cotidiano con respuesta operativa y mejora del manejo.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64578-A67A-4E17-BE1D-73E12C6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5143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C1A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83FE6-E26A-49E1-87BE-051743BC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840AE1-06F1-4691-ACE1-31109D1C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A7BE9-7AA5-4522-8353-B3716F6F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247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Reporte de incidentes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F6FBFF-60DE-4AE1-A786-239742F4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324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conductor envía ubicación, fotografías y una descripción de la avería, ponchadura o siniestro.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F0BCE-783F-47D6-84CD-1F1AEC3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D6454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64545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8DA5C-DB94-47F9-A829-B23192D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93D"/>
                </a:solidFill>
                <a:latin typeface="Arial"/>
                <a:ea typeface="Arial"/>
                <a:cs typeface="Arial"/>
              </a:rPr>
              <a:t>El centro de mando recibe contexto suficiente para coordinar la atención.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7FA1F-25C5-4C9B-9DDD-50A2E53A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81200"/>
            <a:ext cx="5143500" cy="37147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F6F0"/>
          </a:solidFill>
          <a:ln xmlns:a="http://schemas.openxmlformats.org/drawingml/2006/main" w="9525">
            <a:solidFill>
              <a:srgbClr val="ABDC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80A1C-442A-478F-86E0-E07B100A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66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C2818-5D70-4C6B-8784-0D78A653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76475"/>
            <a:ext cx="457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39F652-023F-49BD-83B3-456460A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Manejo comentado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F2DB2-9BD0-44AF-B72A-23AC9C7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4324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El supervisor observa hábitos de conducción defensiva y registra una evaluación con retroalimentación.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E86D9-22FF-4C6B-98EB-95EAC618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2A0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2A06B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30563-958B-4B74-983F-482EC928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4324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93D"/>
                </a:solidFill>
                <a:latin typeface="Arial"/>
                <a:ea typeface="Arial"/>
                <a:cs typeface="Arial"/>
              </a:rPr>
              <a:t>Cada evaluación genera evidencia para reforzar conductas seguras.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081880-F549-4CDC-AC7A-5E8009A0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B7E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B7E8B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6114805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079ae46374576"/>
          <a:srcRect xmlns:a="http://schemas.openxmlformats.org/drawingml/2006/main" l="1515" t="0" r="1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02C49-4944-45D9-ADF5-A5219F9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33">
              <a:alpha val="85098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12820-83C0-4999-89AA-7479E4D9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Torre de control y expediente digital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689ED-F38F-4B55-BC9F-FE689AC4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79D8E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9D8E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E0C1EA-03AA-4EFC-999A-A3199A0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38638-AA6D-4B37-96AE-0924E164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El panel administrativo reúne la operación diaria y conserva el respaldo documental.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3BA17-D9EC-4DD5-BD9C-A48139A1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30B45-04F5-4AC8-8DC7-7C5BAF8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 operativo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AD431-6CAF-4F33-9946-4A9249D6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Ubicación actual y rutas históricas por viaje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F56D9-4AF5-4803-A7F6-3DAFDAC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E684E-6D7C-4C72-9973-A8E939CD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Auditoría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7BC5C-1598-47B2-BC2F-8507E6A4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Odómetros, combustible y consistencia de registros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990F2-D40C-449F-BE7C-3469D2D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762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1AD74-821C-4E76-BC43-72CD8CE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95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Expedientes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AFCC5A-1177-490C-9B86-6F93D85C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6D9E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9E3"/>
                </a:solidFill>
                <a:latin typeface="Arial"/>
                <a:ea typeface="Arial"/>
                <a:cs typeface="Arial"/>
              </a:rPr>
              <a:t>Actas y PDFs sincronizados con SharePoint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17305-06E8-4B18-9D78-0865DDF6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048125" cy="30480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B2A43">
              <a:alpha val="90980"/>
            </a:srgbClr>
          </a:solidFill>
          <a:ln xmlns:a="http://schemas.openxmlformats.org/drawingml/2006/main" w="9525">
            <a:solidFill>
              <a:srgbClr val="4C718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CD7A2-22F9-4A0B-B381-B1196A34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19350"/>
            <a:ext cx="3381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Panel administrativo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2B339-757E-4A17-BFE9-D135F75C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99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85DDE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5DDEA"/>
                </a:solidFill>
                <a:latin typeface="Arial"/>
                <a:ea typeface="Arial"/>
                <a:cs typeface="Arial"/>
              </a:rPr>
              <a:t>Conductores  •  Vehículos  •  Viajes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938DA-90D1-47FC-B50F-37C6A760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81400"/>
            <a:ext cx="33813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Consulta y gestión de catálogos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Seguimiento de ubicación y ruta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D4E3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4E3EA"/>
                </a:solidFill>
                <a:latin typeface="Arial"/>
                <a:ea typeface="Arial"/>
                <a:cs typeface="Arial"/>
              </a:rPr>
              <a:t>Descarga de expedientes operativos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8E2B8-9D8B-4735-92ED-1AB7614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38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AFC5D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FC5D3"/>
                </a:solidFill>
                <a:latin typeface="Arial"/>
                <a:ea typeface="Arial"/>
                <a:cs typeface="Arial"/>
              </a:rPr>
              <a:t>Gerenciamiento de Viajes  |  v1.2.0</a:t>
            </a:r>
          </a:p>
        </p:txBody>
      </p:sp>
    </p:spTree>
    <p:extLst>
      <p:ext uri="{BB962C8B-B14F-4D97-AF65-F5344CB8AC3E}">
        <p14:creationId xmlns:p14="http://schemas.microsoft.com/office/powerpoint/2010/main" val="14303873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B9CC1-CE6A-4E40-8D92-F84005A0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Buenas prácticas para una operación segura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214A-3A1B-4755-9C54-06F88ED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7C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A7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FB8B1A-7520-45F2-82C2-FA5CCBEC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B24BC-6426-4C4A-889F-6027D75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La calidad del registro depende de hábitos simples y consistentes durante cada viaje.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124C5-F2E0-4E1F-ACE7-51C222AD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7C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C34A2-257A-4303-9CDD-C5390697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Inspección consciente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FA456-6AFA-4DE4-9EDE-B20D03A4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Revisar la unidad antes de encender el motor y documentar cualquier daño.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2BB9B0-24BA-431A-AC66-FEFD7F05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A3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8EC1A-B84A-4082-A877-F192E78F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GPS activo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B451E-E2C3-4429-85FD-D1EDE6F3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Mantener habilitada la ubicación durante todo el trayecto, incluso en zonas sin señal.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A50EF-CA3E-452F-8ECE-ED09991E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7810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06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1E2DC-03EC-459A-BE41-E833F505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3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293D"/>
                </a:solidFill>
                <a:latin typeface="Arial"/>
                <a:ea typeface="Arial"/>
                <a:cs typeface="Arial"/>
              </a:rPr>
              <a:t>Odómetro exacto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6D133-5279-4C31-9B09-6C3EA5DC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909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9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97A"/>
                </a:solidFill>
                <a:latin typeface="Arial"/>
                <a:ea typeface="Arial"/>
                <a:cs typeface="Arial"/>
              </a:rPr>
              <a:t>Registrar con precisión las lecturas de salida y llegada.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5917-8E95-417C-B842-7C14D4E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334000"/>
            <a:ext cx="6762750" cy="666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71E3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0E5FA-7EBD-4928-8265-87F81FF8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43525"/>
            <a:ext cx="638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Preguntas y comentarios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7B3CB-D914-40D0-BE6A-0CE8584E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162675"/>
            <a:ext cx="809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38100" rIns="47625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71869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18693"/>
                </a:solidFill>
                <a:latin typeface="Arial"/>
                <a:ea typeface="Arial"/>
                <a:cs typeface="Arial"/>
              </a:rPr>
              <a:t>Nota: la operación productiva requiere configuración de PostgreSQL, Telegram y servicios externos aplicables.</a:t>
            </a:r>
          </a:p>
        </p:txBody>
      </p:sp>
    </p:spTree>
    <p:extLst>
      <p:ext uri="{BB962C8B-B14F-4D97-AF65-F5344CB8AC3E}">
        <p14:creationId xmlns:p14="http://schemas.microsoft.com/office/powerpoint/2010/main" val="17508451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2026-09-09T16:25:16.9830000Z</dcterms:created>
  <dcterms:modified xsi:type="dcterms:W3CDTF">2026-09-09T16:25:16.9830000Z</dcterms:modified>
</coreProperties>
</file>